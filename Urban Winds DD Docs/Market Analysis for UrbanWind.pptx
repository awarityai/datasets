
<file path=[Content_Types].xml><?xml version="1.0" encoding="utf-8"?>
<Types xmlns="http://schemas.openxmlformats.org/package/2006/content-types">
  <Default Extension="jpeg" ContentType="image/jpeg"/>
  <Default Extension="jpg!d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28"/>
  </p:normalViewPr>
  <p:slideViewPr>
    <p:cSldViewPr snapToGrid="0">
      <p:cViewPr varScale="1">
        <p:scale>
          <a:sx n="76" d="100"/>
          <a:sy n="76" d="100"/>
        </p:scale>
        <p:origin x="21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346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6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2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26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0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68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1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8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9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7/24/24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317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7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11735" TargetMode="External"/><Relationship Id="rId2" Type="http://schemas.openxmlformats.org/officeDocument/2006/relationships/image" Target="../media/image3.jpg!d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353425" TargetMode="External"/><Relationship Id="rId2" Type="http://schemas.openxmlformats.org/officeDocument/2006/relationships/image" Target="../media/image5.jpg!d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FE59B9-CE43-A413-851C-1318E9CD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0"/>
          <a:stretch/>
        </p:blipFill>
        <p:spPr>
          <a:xfrm>
            <a:off x="20" y="1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B4B4F-B513-2DE9-7E10-625EC258E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126" y="1419225"/>
            <a:ext cx="4320227" cy="23951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Market Analysis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 err="1">
                <a:solidFill>
                  <a:srgbClr val="FFFFFF"/>
                </a:solidFill>
              </a:rPr>
              <a:t>Urbanwind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4DF15-8476-A093-C25F-335CB721F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824577"/>
            <a:ext cx="4320228" cy="161419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FF">
                    <a:alpha val="75000"/>
                  </a:srgbClr>
                </a:solidFill>
              </a:rPr>
              <a:t>Sarah Johnson</a:t>
            </a:r>
          </a:p>
          <a:p>
            <a:r>
              <a:rPr lang="en-US" sz="1800" dirty="0">
                <a:solidFill>
                  <a:srgbClr val="FFFFFF">
                    <a:alpha val="75000"/>
                  </a:srgbClr>
                </a:solidFill>
              </a:rPr>
              <a:t>2/15/24</a:t>
            </a:r>
          </a:p>
        </p:txBody>
      </p:sp>
    </p:spTree>
    <p:extLst>
      <p:ext uri="{BB962C8B-B14F-4D97-AF65-F5344CB8AC3E}">
        <p14:creationId xmlns:p14="http://schemas.microsoft.com/office/powerpoint/2010/main" val="224173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839E1-D398-0660-0CE1-9B1D1C72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309003" cy="1013800"/>
          </a:xfrm>
        </p:spPr>
        <p:txBody>
          <a:bodyPr>
            <a:normAutofit/>
          </a:bodyPr>
          <a:lstStyle/>
          <a:p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Market Size and Growth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4F1D-AD52-E593-39F4-1E510BDDB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The global small wind turbine market is experiencing significant growth: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Market size in 2023: Approximately $6.5 billion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Projected market size by 2026: $8.9 billion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Compound Annual Growth Rate (CAGR): 13.2% from 2023 to 2026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b="0">
                <a:solidFill>
                  <a:schemeClr val="tx2"/>
                </a:solidFill>
                <a:effectLst/>
              </a:rPr>
            </a:b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Regional breakdown: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North America: 35% market share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Europe: 30% market share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Asia-Pacific: 25% market share</a:t>
            </a:r>
            <a:endParaRPr lang="en-US" b="0">
              <a:solidFill>
                <a:schemeClr val="tx2"/>
              </a:solidFill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 i="0" u="none" strike="noStrike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- Rest of the World: 10% market share</a:t>
            </a:r>
            <a:endParaRPr lang="en-US" b="0">
              <a:solidFill>
                <a:schemeClr val="tx2"/>
              </a:solidFill>
              <a:effectLst/>
            </a:endParaRPr>
          </a:p>
          <a:p>
            <a:pPr>
              <a:lnSpc>
                <a:spcPct val="100000"/>
              </a:lnSpc>
            </a:pPr>
            <a:br>
              <a:rPr lang="en-US">
                <a:solidFill>
                  <a:schemeClr val="tx2"/>
                </a:solidFill>
              </a:rPr>
            </a:br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Picture 4" descr="Wind farm silhouette">
            <a:extLst>
              <a:ext uri="{FF2B5EF4-FFF2-40B4-BE49-F238E27FC236}">
                <a16:creationId xmlns:a16="http://schemas.microsoft.com/office/drawing/2014/main" id="{7D37211B-2E5B-3632-4EEB-236755611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07" r="30285" b="2"/>
          <a:stretch/>
        </p:blipFill>
        <p:spPr>
          <a:xfrm>
            <a:off x="7521283" y="10"/>
            <a:ext cx="467071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2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ind farm silhouette">
            <a:extLst>
              <a:ext uri="{FF2B5EF4-FFF2-40B4-BE49-F238E27FC236}">
                <a16:creationId xmlns:a16="http://schemas.microsoft.com/office/drawing/2014/main" id="{E975DF04-7BB7-0D28-AD63-6F022C6FD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2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883" y="849057"/>
            <a:ext cx="3703320" cy="94997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883" y="1012371"/>
            <a:ext cx="3702134" cy="4202862"/>
          </a:xfrm>
          <a:prstGeom prst="rect">
            <a:avLst/>
          </a:prstGeom>
          <a:solidFill>
            <a:schemeClr val="bg1">
              <a:alpha val="95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C4711-DCA0-345B-98F6-1281C3D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227" y="1153886"/>
            <a:ext cx="3374265" cy="971306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tx1"/>
                </a:solidFill>
              </a:rPr>
              <a:t>Key market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2F73-33CC-F6A8-E8E1-298C16B8F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226" y="2266683"/>
            <a:ext cx="3374265" cy="2704562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a) Increasing focus on renewable energy: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Global push to reduce carbon emissions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Government incentives and policies supporting clean energy adoption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600" b="0">
                <a:effectLst/>
              </a:rPr>
            </a:b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b) Rising electricity costs: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Average annual increase of 3-5% in electricity prices in developed countries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Driving consumers and businesses to seek alternative energy sources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600" b="0">
                <a:effectLst/>
              </a:rPr>
            </a:b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c) Technological advancements: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Improved efficiency and reduced costs of small wind turbines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Better integration with existing power systems and smart grids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600" b="0">
                <a:effectLst/>
              </a:rPr>
            </a:b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d) Urbanization and decentralized power generation: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Growing interest in localized, resilient power sources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Increasing adoption of microgrids in urban and suburban areas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600" b="0">
                <a:effectLst/>
              </a:rPr>
            </a:b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e) Complementary to solar energy: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Wind energy often available when solar is not (e.g., nighttime, cloudy days)</a:t>
            </a:r>
            <a:endParaRPr lang="en-US" sz="6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b="0" i="0" u="none" strike="noStrike">
                <a:effectLst/>
                <a:latin typeface="Arial" panose="020B0604020202020204" pitchFamily="34" charset="0"/>
              </a:rPr>
              <a:t>   - Growing trend of hybrid solar-wind systems for consistent power generation</a:t>
            </a:r>
            <a:endParaRPr lang="en-US" sz="600" b="0">
              <a:effectLst/>
            </a:endParaRPr>
          </a:p>
          <a:p>
            <a:pPr>
              <a:lnSpc>
                <a:spcPct val="100000"/>
              </a:lnSpc>
            </a:pPr>
            <a:br>
              <a:rPr lang="en-US" sz="600"/>
            </a:br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969564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C6C3-7FDD-93FA-A7F3-27482047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09065-D412-7E41-E846-D77B8C48A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6209075" cy="3634486"/>
          </a:xfrm>
        </p:spPr>
        <p:txBody>
          <a:bodyPr>
            <a:normAutofit fontScale="70000" lnSpcReduction="2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Residential: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40%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Key drivers: Energy independence, cost savings, environmental consciousness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b) Commercial and Industrial: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35%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Key drivers: Corporate sustainability goals, energy cost reduction, green branding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c) Institutional: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15%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Key drivers: Educational value, sustainability commitments, government mandates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d) Agricultural: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10%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Key drivers: Remote power needs, cost savings, sustainability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8" name="Picture 7" descr="A display of fruits and vegetables&#10;&#10;Description automatically generated">
            <a:extLst>
              <a:ext uri="{FF2B5EF4-FFF2-40B4-BE49-F238E27FC236}">
                <a16:creationId xmlns:a16="http://schemas.microsoft.com/office/drawing/2014/main" id="{5927C11F-235D-1D84-7FC6-40ADDA490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5459" y="702156"/>
            <a:ext cx="4595348" cy="344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ind turbines against blue sky">
            <a:extLst>
              <a:ext uri="{FF2B5EF4-FFF2-40B4-BE49-F238E27FC236}">
                <a16:creationId xmlns:a16="http://schemas.microsoft.com/office/drawing/2014/main" id="{25EDEAFD-003B-2A56-EB3F-A50AC08981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80"/>
          <a:stretch/>
        </p:blipFill>
        <p:spPr>
          <a:xfrm>
            <a:off x="20" y="10"/>
            <a:ext cx="12191980" cy="68579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31CBB7-4817-4B54-A7F9-0AE2D0C47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029" y="457200"/>
            <a:ext cx="5010912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C321D-B05F-4857-8880-97F61B9B7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7791" y="601200"/>
            <a:ext cx="5009388" cy="57893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23CE1-EDBD-7316-4D96-68FB7E24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184" y="938022"/>
            <a:ext cx="4389261" cy="1188720"/>
          </a:xfrm>
        </p:spPr>
        <p:txBody>
          <a:bodyPr>
            <a:normAutofit/>
          </a:bodyPr>
          <a:lstStyle/>
          <a:p>
            <a:r>
              <a:rPr lang="en-US" dirty="0"/>
              <a:t>Challenges and barriers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F1903-C3BA-9105-FA75-4EBCA4807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184" y="2340865"/>
            <a:ext cx="4389262" cy="3788474"/>
          </a:xfrm>
        </p:spPr>
        <p:txBody>
          <a:bodyPr>
            <a:normAutofit/>
          </a:bodyPr>
          <a:lstStyle/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a) Zoning and permitting issues: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Varying regulations across municipalities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Aesthetic concerns in urban areas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200" b="0">
                <a:effectLst/>
              </a:rPr>
            </a:b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b) Initial cost: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Higher upfront investment compared to traditional energy sources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Need for clear ROI demonstration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200" b="0">
                <a:effectLst/>
              </a:rPr>
            </a:b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c) Intermittency of wind resources: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Variability in urban wind patterns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Necessity for hybrid systems or energy storage solutions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1200" b="0">
                <a:effectLst/>
              </a:rPr>
            </a:b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d) Public perception: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Concerns about noise, visual impact, and wildlife effects</a:t>
            </a:r>
            <a:endParaRPr lang="en-US" sz="1200" b="0">
              <a:effectLst/>
            </a:endParaRP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effectLst/>
                <a:latin typeface="Arial" panose="020B0604020202020204" pitchFamily="34" charset="0"/>
              </a:rPr>
              <a:t>   - Need for education and awareness campaigns</a:t>
            </a:r>
            <a:endParaRPr lang="en-US" sz="1200" b="0">
              <a:effectLst/>
            </a:endParaRPr>
          </a:p>
          <a:p>
            <a:pPr>
              <a:lnSpc>
                <a:spcPct val="100000"/>
              </a:lnSpc>
            </a:pPr>
            <a:br>
              <a:rPr lang="en-US" sz="1200"/>
            </a:b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916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C727-71A0-6005-B0C9-A20011D6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Competitive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58C00-C314-2A98-DCFB-D75A74A25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Key competitors in the small wind turbine market: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a)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Bergey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Windpower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15%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Strengths: Long-standing reputation, wide product range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Weaknesses: Less focus on urban-specific solutions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b)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Windside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Market share: 10%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Strengths: Vertical axis design suitable for urban environments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- Weaknesses: Higher cost, lower efficiency compared to horizontal axis turbines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 descr="Two people in fencing gear&#10;&#10;Description automatically generated">
            <a:extLst>
              <a:ext uri="{FF2B5EF4-FFF2-40B4-BE49-F238E27FC236}">
                <a16:creationId xmlns:a16="http://schemas.microsoft.com/office/drawing/2014/main" id="{7EF40540-098B-E177-5C21-B054B35C1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90261" y="982882"/>
            <a:ext cx="4120546" cy="274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4994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Dividend">
      <a:maj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535</Words>
  <Application>Microsoft Macintosh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Wingdings 2</vt:lpstr>
      <vt:lpstr>DividendVTI</vt:lpstr>
      <vt:lpstr>Market Analysis  Urbanwind</vt:lpstr>
      <vt:lpstr>Market Size and Growth</vt:lpstr>
      <vt:lpstr>Key market drivers</vt:lpstr>
      <vt:lpstr>Market segments</vt:lpstr>
      <vt:lpstr>Challenges and barriers</vt:lpstr>
      <vt:lpstr>Competitive landscape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2024-07-24T18:43:09Z</dcterms:created>
  <dcterms:modified xsi:type="dcterms:W3CDTF">2024-07-24T18:52:14Z</dcterms:modified>
</cp:coreProperties>
</file>